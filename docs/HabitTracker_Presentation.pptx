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63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64285"/>
            <a:ext cx="5486400" cy="5486400"/>
          </a:xfrm>
          <a:prstGeom prst="ellipse">
            <a:avLst/>
          </a:prstGeom>
          <a:solidFill>
            <a:srgbClr val="7C5CE8">
              <a:alpha val="20000"/>
            </a:srgbClr>
          </a:solidFill>
          <a:ln w="12700">
            <a:solidFill>
              <a:srgbClr val="7C5CE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A3DB8">
              <a:alpha val="25000"/>
            </a:srgbClr>
          </a:solidFill>
          <a:ln w="12700">
            <a:solidFill>
              <a:srgbClr val="5A3DB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1005840" cy="10058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830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GLOW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6"/>
                </a:solidFill>
              </a:rPr>
              <a:t>Habit Tracker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Mobile Habit Tracker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smtClean="0">
                <a:solidFill>
                  <a:srgbClr val="ACA8C6"/>
                </a:solidFill>
              </a:rPr>
              <a:t>University of </a:t>
            </a:r>
            <a:r>
              <a:rPr lang="en-US" sz="1500" dirty="0" err="1" smtClean="0">
                <a:solidFill>
                  <a:srgbClr val="ACA8C6"/>
                </a:solidFill>
              </a:rPr>
              <a:t>Msila</a:t>
            </a:r>
            <a:r>
              <a:rPr lang="en-US" sz="1500" dirty="0" smtClean="0">
                <a:solidFill>
                  <a:srgbClr val="ACA8C6"/>
                </a:solidFill>
              </a:rPr>
              <a:t>  ·  </a:t>
            </a:r>
            <a:r>
              <a:rPr lang="en-US" sz="1500" dirty="0" smtClean="0">
                <a:solidFill>
                  <a:srgbClr val="F5A623"/>
                </a:solidFill>
              </a:rPr>
              <a:t>Mobile Applications Course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D2652"/>
          </a:solidFill>
          <a:ln w="12700">
            <a:solidFill>
              <a:srgbClr val="2D26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988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6"/>
                </a:solidFill>
              </a:rPr>
              <a:t>Flutter  ·  </a:t>
            </a:r>
            <a:r>
              <a:rPr lang="en-US" sz="1200" dirty="0" smtClean="0">
                <a:solidFill>
                  <a:srgbClr val="ACA8C6"/>
                </a:solidFill>
              </a:rPr>
              <a:t>SQL  </a:t>
            </a:r>
            <a:r>
              <a:rPr lang="en-US" sz="1200" dirty="0">
                <a:solidFill>
                  <a:srgbClr val="ACA8C6"/>
                </a:solidFill>
              </a:rPr>
              <a:t>·  Provider  ·  MVVM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44988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 smtClean="0">
                <a:solidFill>
                  <a:srgbClr val="ACA8C6"/>
                </a:solidFill>
              </a:rPr>
              <a:t>2025 </a:t>
            </a:r>
            <a:r>
              <a:rPr lang="en-US" sz="1200" dirty="0">
                <a:solidFill>
                  <a:srgbClr val="ACA8C6"/>
                </a:solidFill>
              </a:rPr>
              <a:t>/ </a:t>
            </a:r>
            <a:r>
              <a:rPr lang="en-US" sz="1200" dirty="0" smtClean="0">
                <a:solidFill>
                  <a:srgbClr val="ACA8C6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535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8046720" cy="36576"/>
          </a:xfrm>
          <a:prstGeom prst="rect">
            <a:avLst/>
          </a:prstGeom>
          <a:solidFill>
            <a:srgbClr val="E8E4F4"/>
          </a:solidFill>
          <a:ln w="12700">
            <a:solidFill>
              <a:srgbClr val="E8E4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8755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87552"/>
            <a:ext cx="402336" cy="804672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Introduction &amp; Problem Statement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47672"/>
            <a:ext cx="402336" cy="80467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4767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Functional &amp; Non-Functional Requirements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907792"/>
            <a:ext cx="402336" cy="80467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0779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System Architecture &amp; Technologies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67912"/>
            <a:ext cx="402336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6791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050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Database Design &amp; ER Diagram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98755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87552"/>
            <a:ext cx="402336" cy="804672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8755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12471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UML Diagrams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194767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947672"/>
            <a:ext cx="402336" cy="80467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94767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0848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Application Interface &amp; UX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290779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907792"/>
            <a:ext cx="402336" cy="804672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0779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0449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Demo Scenario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86791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867912"/>
            <a:ext cx="402336" cy="80467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867912"/>
            <a:ext cx="402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0050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535"/>
                </a:solidFill>
              </a:rPr>
              <a:t>Challenges, Conclusion &amp; Future Work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C5CE8">
              <a:alpha val="15000"/>
            </a:srgbClr>
          </a:solidFill>
          <a:ln w="12700">
            <a:solidFill>
              <a:srgbClr val="7C5CE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56032"/>
            <a:ext cx="1371600" cy="274320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Why Habit Tracking?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51760" cy="1143000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40%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CA8C6"/>
                </a:solidFill>
              </a:rPr>
              <a:t>of daily actions are habits, not conscious decisions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651760" cy="1143000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66 days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CA8C6"/>
                </a:solidFill>
              </a:rPr>
              <a:t>average to form a new habit (Lally et al., UCL)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2651760" cy="1143000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3×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CA8C6"/>
                </a:solidFill>
              </a:rPr>
              <a:t>higher success rate when habits are tracked daily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82880" cy="1828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People struggle to maintain consistency in daily routines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182880" cy="1828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Existing tools are too complex, cluttered, or lack offline 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82880" cy="1828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039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No unified app that combines habit tracking + daily planning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7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3035808"/>
            <a:ext cx="182880" cy="18288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Build a simple, beautiful habit tracking app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438144"/>
            <a:ext cx="182880" cy="18288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Provide real-time progress &amp; statistics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840480"/>
            <a:ext cx="182880" cy="18288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3803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Enable daily planning with a Planner module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02 ·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Functional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33472" cy="292608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710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Habit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82880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Create, edit, delete habits with emoji, color, frequency, and reminder time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633472" cy="2926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7101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Daily Check-in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37560" y="182880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Mark habits as complete per day; view historical completion calendar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234440"/>
            <a:ext cx="2633472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27101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Reminders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26480" y="182880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Set daily notification reminders per habit with custom time picker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274320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743200"/>
            <a:ext cx="2633472" cy="292608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7977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Statistics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333756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Bar chart, heatmap, streak counters, and per-habit completion rate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274320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2743200"/>
            <a:ext cx="2633472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277977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3756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Daily Planner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37560" y="333756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Add, edit, complete, and delete time-based tasks for any selected day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35040" y="274320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2743200"/>
            <a:ext cx="2633472" cy="292608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77977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2648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User Account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26480" y="3337560"/>
            <a:ext cx="2450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Register, login, logout with persisted profile name, bio, and settings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02 ·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Non-Functional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3560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535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34440" y="18928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89888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App launches in under 2 seconds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34440" y="216712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21031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SQLite queries execute &lt; 50ms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244144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377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UI renders at 60fps on mid-range devices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" y="3035808"/>
            <a:ext cx="502920" cy="50292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9067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535"/>
                </a:solidFill>
              </a:rPr>
              <a:t>Usability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234440" y="3493008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89888" y="3429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Intuitive navigation — max 3 taps to any feature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234440" y="3767328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89888" y="37033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Clear visual hierarchy and readable typography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234440" y="4041648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389888" y="3977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Animated feedback on every user interaction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800600" y="12344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965192" y="1435608"/>
            <a:ext cx="502920" cy="50292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9047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778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535"/>
                </a:solidFill>
              </a:rPr>
              <a:t>Reliability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5577840" y="1892808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733288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All data persisted to SQLite — no data loss on restart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577840" y="2167128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733288" y="21031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Auth session survives app kill and relaunch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577840" y="2441448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733288" y="2377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Graceful error handling with inline messages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800600" y="28346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965192" y="3035808"/>
            <a:ext cx="502920" cy="5029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90672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778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535"/>
                </a:solidFill>
              </a:rPr>
              <a:t>Security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5577840" y="3493008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33288" y="3429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Credentials stored locally on device only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577840" y="3767328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733288" y="37033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Input validation on all form fields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577840" y="4041648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733288" y="3977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90"/>
                </a:solidFill>
              </a:rPr>
              <a:t>Session flag in SharedPreferences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5CE8">
              <a:alpha val="12000"/>
            </a:srgbClr>
          </a:solidFill>
          <a:ln w="12700">
            <a:solidFill>
              <a:srgbClr val="7C5CE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1920240" cy="274320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Design &amp;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MVVM + Repository Pattern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258568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600200"/>
            <a:ext cx="4160520" cy="658368"/>
          </a:xfrm>
          <a:prstGeom prst="rect">
            <a:avLst/>
          </a:prstGeom>
          <a:solidFill>
            <a:srgbClr val="7C5CE8">
              <a:alpha val="85000"/>
            </a:srgbClr>
          </a:solidFill>
          <a:ln w="19050">
            <a:solidFill>
              <a:srgbClr val="7C5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Flutter Widgets / Screens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920240" y="16367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Home · Stats · Planner · Profile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035808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2377440"/>
            <a:ext cx="4160520" cy="658368"/>
          </a:xfrm>
          <a:prstGeom prst="rect">
            <a:avLst/>
          </a:prstGeom>
          <a:solidFill>
            <a:srgbClr val="00C897">
              <a:alpha val="85000"/>
            </a:srgbClr>
          </a:solidFill>
          <a:ln w="19050">
            <a:solidFill>
              <a:srgbClr val="00C8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MODEL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ChangeNotifier Providers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920240" y="2414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HabitProvider · PlannerProvider · ProfileProvider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813048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" y="3154680"/>
            <a:ext cx="4160520" cy="658368"/>
          </a:xfrm>
          <a:prstGeom prst="rect">
            <a:avLst/>
          </a:prstGeom>
          <a:solidFill>
            <a:srgbClr val="FF6B57">
              <a:alpha val="85000"/>
            </a:srgbClr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" y="3191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9436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AppDatabase (SQLite)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920240" y="3191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Habits · HabitLogs · PlannerTasks tables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3931920"/>
            <a:ext cx="4160520" cy="658368"/>
          </a:xfrm>
          <a:prstGeom prst="rect">
            <a:avLst/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39684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94360" y="4261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Dart Data Classes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920240" y="39684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Habit · HabitLog · PlannerTask · UserProfile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29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983480" y="1572768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120640" y="1645920"/>
            <a:ext cx="329184" cy="329184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1673352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16093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Flutter 3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532120" y="1819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Cross-platform UI framework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983480" y="2148840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120640" y="2221992"/>
            <a:ext cx="329184" cy="32918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2249424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32120" y="2185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Dart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532120" y="2395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Programming language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983480" y="2724912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120640" y="2798064"/>
            <a:ext cx="329184" cy="329184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2825496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53212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(sqflite)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532120" y="2971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Local relational database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983480" y="3300984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120640" y="3374136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648" y="3401568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53212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Provider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5532120" y="35478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State management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4983480" y="3877056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5120640" y="3950208"/>
            <a:ext cx="329184" cy="329184"/>
          </a:xfrm>
          <a:prstGeom prst="ellipse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648" y="3977640"/>
            <a:ext cx="201168" cy="20116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532120" y="3913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SharedPreferences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532120" y="4123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Auth session &amp; profile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4983480" y="4453128"/>
            <a:ext cx="3703320" cy="47548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5120640" y="4526280"/>
            <a:ext cx="329184" cy="32918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4648" y="4553712"/>
            <a:ext cx="201168" cy="20116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53212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Flutter Local Notif</a:t>
            </a:r>
            <a:endParaRPr lang="en-US" sz="1100" dirty="0"/>
          </a:p>
        </p:txBody>
      </p:sp>
      <p:sp>
        <p:nvSpPr>
          <p:cNvPr id="56" name="Text 45"/>
          <p:cNvSpPr/>
          <p:nvPr/>
        </p:nvSpPr>
        <p:spPr>
          <a:xfrm>
            <a:off x="5532120" y="47000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CA8C6"/>
                </a:solidFill>
              </a:rPr>
              <a:t>Habit reminders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04 · 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Database Design &amp; ER Diagram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2743200" cy="1600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D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Account &amp; profile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id (PK)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– UUID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NOT NULL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email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UNIQUE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password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NOT NULL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title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bio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143000"/>
          <a:ext cx="2926080" cy="22860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habits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Habit definition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id (PK)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– UUID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NOT NULL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emoji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color_value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freq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reminder_time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(HH:mm)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streak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 DEFAULT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best_streak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 DEFAULT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created_at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(ISO-8601)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274320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habit_logs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Daily completion log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id (PK)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– UUID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habit_id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(FK → habits.id)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(ISO-8601)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 0/1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(optional)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3246120"/>
          <a:ext cx="29260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planner_tasks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Daily scheduled tasks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id (PK)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– UUID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title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NOT NULL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subtitle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(HH:mm)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color_value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TEXT (ISO-8601)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completed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535"/>
                          </a:solidFill>
                        </a:rPr>
                        <a:t>INTEGER 0/1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64008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535"/>
                </a:solidFill>
              </a:rPr>
              <a:t>Relationships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400800" y="1536192"/>
            <a:ext cx="2514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6492240" y="1591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E8"/>
                </a:solidFill>
              </a:rPr>
              <a:t>users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492240" y="17739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535"/>
                </a:solidFill>
              </a:rPr>
              <a:t>1 — N  →  habits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492240" y="19568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One user owns many habits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6400800" y="2286000"/>
            <a:ext cx="2514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9"/>
          <p:cNvSpPr/>
          <p:nvPr/>
        </p:nvSpPr>
        <p:spPr>
          <a:xfrm>
            <a:off x="6492240" y="23408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E8"/>
                </a:solidFill>
              </a:rPr>
              <a:t>habits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492240" y="2523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535"/>
                </a:solidFill>
              </a:rPr>
              <a:t>1 — N  →  habit_logs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492240" y="27066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Each habit has many daily logs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400800" y="3035808"/>
            <a:ext cx="2514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492240" y="30906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E8"/>
                </a:solidFill>
              </a:rPr>
              <a:t>users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92240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535"/>
                </a:solidFill>
              </a:rPr>
              <a:t>1 — N  →  planner_tasks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492240" y="34564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One user has many planner tasks</a:t>
            </a:r>
            <a:endParaRPr lang="en-US" sz="850" dirty="0"/>
          </a:p>
        </p:txBody>
      </p:sp>
      <p:sp>
        <p:nvSpPr>
          <p:cNvPr id="6" name="Text 1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490"/>
                </a:solidFill>
              </a:rPr>
              <a:t>ON DELETE CASCADE: deleting a habit automatically removes all its associated logs.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05 · UML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Use Case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675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490"/>
                </a:solidFill>
              </a:rPr>
              <a:t>«system» Glow Habit Tracker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11480" cy="41148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77440"/>
            <a:ext cx="45720" cy="54864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487168"/>
            <a:ext cx="411480" cy="4572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26080"/>
            <a:ext cx="45720" cy="45720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328416"/>
            <a:ext cx="228600" cy="4572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28416"/>
            <a:ext cx="228600" cy="4572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3703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535"/>
                </a:solidFill>
              </a:rPr>
              <a:t>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1298448"/>
            <a:ext cx="2468880" cy="402336"/>
          </a:xfrm>
          <a:prstGeom prst="ellipse">
            <a:avLst/>
          </a:prstGeom>
          <a:solidFill>
            <a:srgbClr val="EDE8FD"/>
          </a:solidFill>
          <a:ln w="15240">
            <a:solidFill>
              <a:srgbClr val="7C5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2984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Register / Log 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1499616"/>
            <a:ext cx="132588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901952"/>
            <a:ext cx="2468880" cy="402336"/>
          </a:xfrm>
          <a:prstGeom prst="ellipse">
            <a:avLst/>
          </a:prstGeom>
          <a:solidFill>
            <a:srgbClr val="EDE8FD"/>
          </a:solidFill>
          <a:ln w="15240">
            <a:solidFill>
              <a:srgbClr val="7C5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9019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Add / Edit Habit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2103120"/>
            <a:ext cx="132588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2505456"/>
            <a:ext cx="2468880" cy="402336"/>
          </a:xfrm>
          <a:prstGeom prst="ellipse">
            <a:avLst/>
          </a:prstGeom>
          <a:solidFill>
            <a:srgbClr val="EDE8FD"/>
          </a:solidFill>
          <a:ln w="15240">
            <a:solidFill>
              <a:srgbClr val="7C5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5054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Delete Habit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2706624"/>
            <a:ext cx="132588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108960"/>
            <a:ext cx="2468880" cy="402336"/>
          </a:xfrm>
          <a:prstGeom prst="ellipse">
            <a:avLst/>
          </a:prstGeom>
          <a:solidFill>
            <a:srgbClr val="EDE8FD"/>
          </a:solidFill>
          <a:ln w="15240">
            <a:solidFill>
              <a:srgbClr val="7C5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1089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Mark Habit 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3310128"/>
            <a:ext cx="132588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712464"/>
            <a:ext cx="2468880" cy="402336"/>
          </a:xfrm>
          <a:prstGeom prst="ellipse">
            <a:avLst/>
          </a:prstGeom>
          <a:solidFill>
            <a:srgbClr val="EDE8FD"/>
          </a:solidFill>
          <a:ln w="15240">
            <a:solidFill>
              <a:srgbClr val="7C5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37124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View History Calendar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3913632"/>
            <a:ext cx="132588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1298448"/>
            <a:ext cx="2651760" cy="40233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0" name="Text 28"/>
          <p:cNvSpPr/>
          <p:nvPr/>
        </p:nvSpPr>
        <p:spPr>
          <a:xfrm>
            <a:off x="5806440" y="1298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535"/>
                </a:solidFill>
              </a:rPr>
              <a:t>Add / Edit Planner Task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1499616"/>
            <a:ext cx="502920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06440" y="1901952"/>
            <a:ext cx="2651760" cy="402336"/>
          </a:xfrm>
          <a:prstGeom prst="ellipse">
            <a:avLst/>
          </a:prstGeom>
          <a:solidFill>
            <a:srgbClr val="000000"/>
          </a:solidFill>
          <a:ln w="15240">
            <a:solidFill>
              <a:srgbClr val="00C8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1901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Complete / Delete Task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7240" y="2103120"/>
            <a:ext cx="502920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806440" y="2505456"/>
            <a:ext cx="2651760" cy="402336"/>
          </a:xfrm>
          <a:prstGeom prst="ellipse">
            <a:avLst/>
          </a:prstGeom>
          <a:solidFill>
            <a:srgbClr val="000000"/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5054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View Statistics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77240" y="2706624"/>
            <a:ext cx="502920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806440" y="3108960"/>
            <a:ext cx="2651760" cy="402336"/>
          </a:xfrm>
          <a:prstGeom prst="ellipse">
            <a:avLst/>
          </a:prstGeom>
          <a:solidFill>
            <a:srgbClr val="000000"/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1089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View Heatmap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77240" y="3310128"/>
            <a:ext cx="502920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806440" y="3712464"/>
            <a:ext cx="2651760" cy="402336"/>
          </a:xfrm>
          <a:prstGeom prst="ellipse">
            <a:avLst/>
          </a:prstGeom>
          <a:solidFill>
            <a:srgbClr val="000000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37124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Edit Profile &amp; Settings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7240" y="3913632"/>
            <a:ext cx="5029200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05 · UML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Class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774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377440" cy="292608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Habit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264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id: String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name: String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emoji: String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colorValue: int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231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freq: String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4323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streak: int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2633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bestStreak: int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color: Color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colorLight: Color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copyWith(): Habit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35112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toMap(): Map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7124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fromMap(): Habit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17520" y="1097280"/>
            <a:ext cx="23774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17520" y="1097280"/>
            <a:ext cx="2377440" cy="292608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HabitLog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1389888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4264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id: String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0" y="1627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habitId: String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0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date: DateTime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2029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completed: bool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22311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note: String?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2468880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toMap(): Map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08960" y="2706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fromMap(): HabitLog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1097280"/>
            <a:ext cx="30175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1097280"/>
            <a:ext cx="3017520" cy="292608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1115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HabitProvider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389888"/>
            <a:ext cx="301752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14264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- _habits: List&lt;Habit&gt;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0" y="1627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- _todayStatus: Map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69280" y="18288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- _completionMap: Map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77840" y="2066544"/>
            <a:ext cx="301752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1031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load(): Future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69280" y="23042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toggleToday(id): Future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0" y="250545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addHabit(): Future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0" y="270662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updateHabit(): Future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69280" y="29077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deleteHabit(): Future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69280" y="31089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getStatusForDate(): Future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429000"/>
            <a:ext cx="237744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3429000"/>
            <a:ext cx="237744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PlannerTask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721608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758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id: String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8640" y="39593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title: String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8640" y="4160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time: String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8640" y="43616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colorValue: int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48640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date: DateTime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47640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completed: bool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5001768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50383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displayTime: String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" y="52395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sortKey: int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48640" y="5440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copyWith(): PlannerTask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17520" y="3429000"/>
            <a:ext cx="237744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017520" y="3429000"/>
            <a:ext cx="2377440" cy="2926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0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UserProfile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17520" y="3721608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758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name: String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108960" y="39593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title: String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108960" y="4160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bio: String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108960" y="43616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notificationsEnabled: bool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17520" y="4599432"/>
            <a:ext cx="237744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0" y="46360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initial: String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108960" y="48371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copyWith(): UserProfile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108960" y="50383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toMap(): Map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108960" y="52395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fromMap(): UserProfile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577840" y="3429000"/>
            <a:ext cx="3017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577840" y="3429000"/>
            <a:ext cx="3017520" cy="292608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69280" y="3447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«class» AppDatabase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577840" y="3721608"/>
            <a:ext cx="301752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0" y="37581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+ instance: AppDatabase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669280" y="39593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90"/>
                </a:solidFill>
              </a:rPr>
              <a:t>- _db: Database?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577840" y="4197096"/>
            <a:ext cx="3017520" cy="0"/>
          </a:xfrm>
          <a:prstGeom prst="line">
            <a:avLst/>
          </a:prstGeom>
          <a:noFill/>
          <a:ln w="6350">
            <a:solidFill>
              <a:srgbClr val="E8E4F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69280" y="42336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getAllHabits(): Future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669280" y="44348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insertHabit(): Future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669280" y="46360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upsertLog(): Future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669280" y="48371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recalcStreak(): Future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669280" y="50383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getTasksForDate(): Future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669280" y="523951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CE8"/>
                </a:solidFill>
              </a:rPr>
              <a:t>+ insertTask(): Future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UML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Sequence Diagram — Adding a Habit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371600" cy="347472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43000" y="1463040"/>
            <a:ext cx="0" cy="3291840"/>
          </a:xfrm>
          <a:prstGeom prst="line">
            <a:avLst/>
          </a:prstGeom>
          <a:noFill/>
          <a:ln w="10160">
            <a:solidFill>
              <a:srgbClr val="7C5C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03120" y="1115568"/>
            <a:ext cx="1371600" cy="34747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AddHabitScreen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0" cy="3291840"/>
          </a:xfrm>
          <a:prstGeom prst="line">
            <a:avLst/>
          </a:prstGeom>
          <a:noFill/>
          <a:ln w="10160">
            <a:solidFill>
              <a:srgbClr val="00C89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31920" y="1115568"/>
            <a:ext cx="1371600" cy="347472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HabitProvider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0" cy="3291840"/>
          </a:xfrm>
          <a:prstGeom prst="line">
            <a:avLst/>
          </a:prstGeom>
          <a:noFill/>
          <a:ln w="10160">
            <a:solidFill>
              <a:srgbClr val="FF6B5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760720" y="1115568"/>
            <a:ext cx="13716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AppDatabase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1463040"/>
            <a:ext cx="0" cy="3291840"/>
          </a:xfrm>
          <a:prstGeom prst="line">
            <a:avLst/>
          </a:prstGeom>
          <a:noFill/>
          <a:ln w="10160">
            <a:solidFill>
              <a:srgbClr val="F5A62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589520" y="1115568"/>
            <a:ext cx="1371600" cy="347472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SQLite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75320" y="1463040"/>
            <a:ext cx="0" cy="3291840"/>
          </a:xfrm>
          <a:prstGeom prst="line">
            <a:avLst/>
          </a:prstGeom>
          <a:noFill/>
          <a:ln w="10160">
            <a:solidFill>
              <a:srgbClr val="5A3D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60704" y="1463040"/>
            <a:ext cx="164592" cy="1920240"/>
          </a:xfrm>
          <a:prstGeom prst="rect">
            <a:avLst/>
          </a:prstGeom>
          <a:solidFill>
            <a:srgbClr val="7C5CE8">
              <a:alpha val="70000"/>
            </a:srgbClr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1645920"/>
            <a:ext cx="164592" cy="1737360"/>
          </a:xfrm>
          <a:prstGeom prst="rect">
            <a:avLst/>
          </a:prstGeom>
          <a:solidFill>
            <a:srgbClr val="00C897">
              <a:alpha val="7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35424" y="2011680"/>
            <a:ext cx="164592" cy="1371600"/>
          </a:xfrm>
          <a:prstGeom prst="rect">
            <a:avLst/>
          </a:prstGeom>
          <a:solidFill>
            <a:srgbClr val="FF6B57">
              <a:alpha val="70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2377440"/>
            <a:ext cx="164592" cy="82296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93024" y="2651760"/>
            <a:ext cx="164592" cy="457200"/>
          </a:xfrm>
          <a:prstGeom prst="rect">
            <a:avLst/>
          </a:prstGeom>
          <a:solidFill>
            <a:srgbClr val="5A3DB8">
              <a:alpha val="70000"/>
            </a:srgbClr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296" y="1691640"/>
            <a:ext cx="148132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▶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150876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1. Tap 'New Habit'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25296" y="1938528"/>
            <a:ext cx="148132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097280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◀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34440" y="175564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2. Show form (emoji, color, freq)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225296" y="2194560"/>
            <a:ext cx="148132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▶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234440" y="201168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3. Fill form &amp; tap 'Create Habit'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871216" y="2450592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▶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2267712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4. addHabit(name, emoji, color…)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0016" y="2706624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▶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00600" y="252374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5. insertHabit(habit)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28816" y="2962656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9288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▶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629400" y="27797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6. INSERT INTO habits …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528816" y="3218688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00800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◀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29400" y="303580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7. rowId returned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0016" y="3474720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57200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◀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00600" y="3291840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8. success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3730752"/>
            <a:ext cx="166420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74320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◀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971800" y="3547872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9. notifyListeners()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225296" y="3986784"/>
            <a:ext cx="1481328" cy="0"/>
          </a:xfrm>
          <a:prstGeom prst="line">
            <a:avLst/>
          </a:prstGeom>
          <a:noFill/>
          <a:ln w="12700">
            <a:solidFill>
              <a:srgbClr val="ACA8C6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1097280" y="3867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CA8C6"/>
                </a:solidFill>
              </a:rPr>
              <a:t>◀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234440" y="380390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5A623"/>
                </a:solidFill>
              </a:rPr>
              <a:t>10. Navigate to Home — habit appears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82880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06 · INTERFACE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Application Interface &amp; 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690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4069080" cy="420624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93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 Screen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1755648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7-day week strip for date navigation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2048256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Animated progress card with streak counter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340864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Habit tiles: emoji, freq chip, streak, toggle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2633472"/>
            <a:ext cx="91440" cy="9144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Toast notification on habit 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1207008"/>
            <a:ext cx="40690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207008"/>
            <a:ext cx="4069080" cy="420624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8930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937760" y="1755648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9320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4 KPI cards: streak, completions, today, total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937760" y="2048256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93208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7-day bar chart from real DB data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37760" y="2340864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9320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13-week activity heatmap (91 cells)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937760" y="2633472"/>
            <a:ext cx="91440" cy="914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9320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Per-habit progress bars with best streak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57200" y="3081528"/>
            <a:ext cx="40690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57200" y="3081528"/>
            <a:ext cx="406908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6382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144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Planner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49808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Horizontal 14-day scrollable date strip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94360" y="392277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9808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Add/edit tasks via bottom sheet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94360" y="42153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980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Swipe left to delete tasks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9808" y="4453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Complete toggle with strikethrough effect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00600" y="3081528"/>
            <a:ext cx="40690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800600" y="3081528"/>
            <a:ext cx="4069080" cy="420624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163824"/>
            <a:ext cx="256032" cy="25603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2578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Profile &amp; Auth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4937760" y="3630168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093208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Splash → Sign Up or Log In screens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937760" y="3922776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093208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Full input validation &amp; error banners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4937760" y="4215384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09320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Edit name, title, bio (persisted)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4937760" y="4507992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093208" y="4453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</a:rPr>
              <a:t>Notifications &amp; Weekly Report toggles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490"/>
                </a:solidFill>
              </a:rPr>
              <a:t>UX Design Principles: light mode palette · animated transitions · consistent card shadows · bottom-sheet forms · empty-state illustrations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C897">
              <a:alpha val="10000"/>
            </a:srgbClr>
          </a:solidFill>
          <a:ln w="12700">
            <a:solidFill>
              <a:srgbClr val="00C89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1645920" cy="274320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·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Demo Scenario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CA8C6"/>
                </a:solidFill>
              </a:rPr>
              <a:t>Step-by-step: A new user starts and tracks their first habit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44752"/>
            <a:ext cx="475488" cy="749808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53619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79222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Splash screen appears — user taps Get Started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444752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44752"/>
            <a:ext cx="475488" cy="7498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4475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13248" y="153619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Account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13248" y="179222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Fills name, email, password — taps Create Account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22576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22576"/>
            <a:ext cx="475488" cy="749808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2257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24140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Home Screen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26700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Sees welcome greeting with their name in 'Hey, Alex!'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322576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22576"/>
            <a:ext cx="47548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2257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13248" y="24140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First Habit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26700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Taps + button → selects emoji 🏃, purple color, Daily freq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475488" cy="749808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0040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4128" y="32918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Habit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354787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Taps the circle → habit turns green, toast pops 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200400"/>
            <a:ext cx="475488" cy="7498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0040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13248" y="32918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Stats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354787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Navigates to Stats tab — sees 1/1 done, streak = 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078224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078224"/>
            <a:ext cx="475488" cy="749808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7822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4128" y="4169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the Day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4128" y="442569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Opens Planner → adds '7:30 AM Meditation' task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4078224"/>
            <a:ext cx="4160520" cy="749808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4078224"/>
            <a:ext cx="47548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07822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13248" y="4169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Edit Profile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13248" y="442569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CA8C6"/>
                </a:solidFill>
              </a:rPr>
              <a:t>Goes to Profile → edits bio, toggles notifications 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solidFill>
            <a:srgbClr val="EDE8FD"/>
          </a:solidFill>
          <a:ln w="12700">
            <a:solidFill>
              <a:srgbClr val="EDE8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E8"/>
                </a:solidFill>
              </a:rPr>
              <a:t>08 ·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0507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54864" cy="150876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FF6B57">
              <a:alpha val="85000"/>
            </a:srgbClr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264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Streak Calculation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16276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57"/>
                </a:solidFill>
              </a:rPr>
              <a:t>Problem: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74520" y="1609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Streak logic broke when users skipped days or toggled in the past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43000" y="19568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7"/>
                </a:solidFill>
              </a:rPr>
              <a:t>Solution: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74520" y="1920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Rebuilt using recalcStreak() — queries full log history, walks back from today/yesterday counting consecutive completed dates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400507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999232"/>
            <a:ext cx="457200" cy="457200"/>
          </a:xfrm>
          <a:prstGeom prst="ellipse">
            <a:avLst/>
          </a:prstGeom>
          <a:solidFill>
            <a:srgbClr val="7C5CE8">
              <a:alpha val="85000"/>
            </a:srgbClr>
          </a:solidFill>
          <a:ln w="12700">
            <a:solidFill>
              <a:srgbClr val="7C5CE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5409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29260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State Sync After DB Writes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43000" y="32552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57"/>
                </a:solidFill>
              </a:rPr>
              <a:t>Problem: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874520" y="32369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UI not updating after DB insert because provider wasn't refreshing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43000" y="35844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7"/>
                </a:solidFill>
              </a:rPr>
              <a:t>Solution: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874520" y="354787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Added notifyListeners() after every DB operation + refreshed completionMap and todayStatus together atomically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00600" y="1207008"/>
            <a:ext cx="400507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800600" y="1207008"/>
            <a:ext cx="54864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426464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86400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Reactive Name in Header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0" y="16276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57"/>
                </a:solidFill>
              </a:rPr>
              <a:t>Problem: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217920" y="1609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Home screen showed hardcoded 'Alex' — not dynamic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486400" y="19568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7"/>
                </a:solidFill>
              </a:rPr>
              <a:t>Solution: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17920" y="1920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Used context.watch&lt;ProfileProvider&gt;() inside Consumer and passed name to _Header widget — rebuilds instantly on profile edit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800600" y="2834640"/>
            <a:ext cx="400507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937760" y="2999232"/>
            <a:ext cx="457200" cy="457200"/>
          </a:xfrm>
          <a:prstGeom prst="ellipse">
            <a:avLst/>
          </a:prstGeom>
          <a:solidFill>
            <a:srgbClr val="00C897">
              <a:alpha val="85000"/>
            </a:srgbClr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054096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86400" y="29260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535"/>
                </a:solidFill>
              </a:rPr>
              <a:t>Auth Flow &amp; Navigation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486400" y="32552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57"/>
                </a:solidFill>
              </a:rPr>
              <a:t>Problem: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217920" y="32369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Logging out left the navigator stack in a broken state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486400" y="35844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7"/>
                </a:solidFill>
              </a:rPr>
              <a:t>Solution: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217920" y="354787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90"/>
                </a:solidFill>
              </a:rPr>
              <a:t>Introduced AuthGate widget that watches isLoggedIn — automatically swaps between SplashScreen and Shell without manual navigation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7C5CE8">
              <a:alpha val="12000"/>
            </a:srgbClr>
          </a:solidFill>
          <a:ln w="12700">
            <a:solidFill>
              <a:srgbClr val="7C5CE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C897">
              <a:alpha val="15000"/>
            </a:srgbClr>
          </a:solidFill>
          <a:ln w="12700">
            <a:solidFill>
              <a:srgbClr val="00C89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1554480" cy="274320"/>
          </a:xfrm>
          <a:prstGeom prst="rect">
            <a:avLst/>
          </a:prstGeom>
          <a:solidFill>
            <a:srgbClr val="5A3DB8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·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What We Achieved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Full MVVM architecture with Provider state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9339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SQLite database with 3 tables and ON DELETE CASCADE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streak calculation from log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Complete auth flow: sign up, login, logout, session 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Dynamic profile that reflects across all screens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146304" cy="146304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13-week activity heatmap driven by real DB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Future Improvements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1572768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6093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Real push notifications via flutter_local_notifications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139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1396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Cloud sync with Firebase (multi-device support)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33472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670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6700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Full dark mode implementation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63824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200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200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Social features: share streaks, challenges with friends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694176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7307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730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AI habit suggestions based on user behavior patterns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224528"/>
            <a:ext cx="3749040" cy="438912"/>
          </a:xfrm>
          <a:prstGeom prst="rect">
            <a:avLst/>
          </a:prstGeom>
          <a:solidFill>
            <a:srgbClr val="2D2652"/>
          </a:solidFill>
          <a:ln w="6350">
            <a:solidFill>
              <a:srgbClr val="E8E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4261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42611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iOS build + App Store publication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7C5CE8">
              <a:alpha val="18000"/>
            </a:srgbClr>
          </a:solidFill>
          <a:ln w="12700">
            <a:solidFill>
              <a:srgbClr val="7C5CE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00C897">
              <a:alpha val="10000"/>
            </a:srgbClr>
          </a:solidFill>
          <a:ln w="12700">
            <a:solidFill>
              <a:srgbClr val="00C897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7C5CE8"/>
          </a:solidFill>
          <a:ln w="12700">
            <a:solidFill>
              <a:srgbClr val="7C5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✦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CA8C6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3429000"/>
            <a:ext cx="1280160" cy="329184"/>
          </a:xfrm>
          <a:prstGeom prst="rect">
            <a:avLst/>
          </a:prstGeom>
          <a:solidFill>
            <a:srgbClr val="2D2652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29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CA8C6"/>
                </a:solidFill>
              </a:rPr>
              <a:t>Flutter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429000"/>
            <a:ext cx="1280160" cy="329184"/>
          </a:xfrm>
          <a:prstGeom prst="rect">
            <a:avLst/>
          </a:prstGeom>
          <a:solidFill>
            <a:srgbClr val="2D2652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29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CA8C6"/>
                </a:solidFill>
              </a:rPr>
              <a:t>SQLite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429000"/>
            <a:ext cx="1280160" cy="329184"/>
          </a:xfrm>
          <a:prstGeom prst="rect">
            <a:avLst/>
          </a:prstGeom>
          <a:solidFill>
            <a:srgbClr val="2D2652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429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CA8C6"/>
                </a:solidFill>
              </a:rPr>
              <a:t>Provider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429000"/>
            <a:ext cx="1280160" cy="329184"/>
          </a:xfrm>
          <a:prstGeom prst="rect">
            <a:avLst/>
          </a:prstGeom>
          <a:solidFill>
            <a:srgbClr val="2D2652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429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CA8C6"/>
                </a:solidFill>
              </a:rPr>
              <a:t>MVVM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429000"/>
            <a:ext cx="1280160" cy="329184"/>
          </a:xfrm>
          <a:prstGeom prst="rect">
            <a:avLst/>
          </a:prstGeom>
          <a:solidFill>
            <a:srgbClr val="2D2652"/>
          </a:solidFill>
          <a:ln w="12700">
            <a:solidFill>
              <a:srgbClr val="5A3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429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CA8C6"/>
                </a:solidFill>
              </a:rPr>
              <a:t>Dart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90"/>
                </a:solidFill>
              </a:rPr>
              <a:t>Mobile Applications  ·  University Project  ·  2024 /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1551</Words>
  <Application>Microsoft Office PowerPoint</Application>
  <PresentationFormat>On-screen Show (16:9)</PresentationFormat>
  <Paragraphs>395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Glow – Habit Tracker | University Project</dc:title>
  <dc:subject>PptxGenJS Presentation</dc:subject>
  <dc:creator>Mobile Applications</dc:creator>
  <cp:lastModifiedBy>PCPC</cp:lastModifiedBy>
  <cp:revision>5</cp:revision>
  <dcterms:created xsi:type="dcterms:W3CDTF">2026-05-01T23:24:21Z</dcterms:created>
  <dcterms:modified xsi:type="dcterms:W3CDTF">2026-05-03T07:52:17Z</dcterms:modified>
</cp:coreProperties>
</file>